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E1CDEC-3F01-D926-4461-F75F66228463}" v="39" dt="2026-04-11T01:55:44.6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mila Karina" userId="88786616cf72eebd" providerId="Windows Live" clId="Web-{C7E1CDEC-3F01-D926-4461-F75F66228463}"/>
    <pc:docChg chg="modSld modMainMaster">
      <pc:chgData name="Kamila Karina" userId="88786616cf72eebd" providerId="Windows Live" clId="Web-{C7E1CDEC-3F01-D926-4461-F75F66228463}" dt="2026-04-11T01:55:44.693" v="38"/>
      <pc:docMkLst>
        <pc:docMk/>
      </pc:docMkLst>
      <pc:sldChg chg="modSp modTransition">
        <pc:chgData name="Kamila Karina" userId="88786616cf72eebd" providerId="Windows Live" clId="Web-{C7E1CDEC-3F01-D926-4461-F75F66228463}" dt="2026-04-11T01:55:44.693" v="38"/>
        <pc:sldMkLst>
          <pc:docMk/>
          <pc:sldMk cId="0" sldId="256"/>
        </pc:sldMkLst>
        <pc:spChg chg="mod">
          <ac:chgData name="Kamila Karina" userId="88786616cf72eebd" providerId="Windows Live" clId="Web-{C7E1CDEC-3F01-D926-4461-F75F66228463}" dt="2026-04-11T01:48:14.059" v="3" actId="20577"/>
          <ac:spMkLst>
            <pc:docMk/>
            <pc:sldMk cId="0" sldId="256"/>
            <ac:spMk id="12" creationId="{00000000-0000-0000-0000-000000000000}"/>
          </ac:spMkLst>
        </pc:spChg>
      </pc:sldChg>
      <pc:sldChg chg="modTransition">
        <pc:chgData name="Kamila Karina" userId="88786616cf72eebd" providerId="Windows Live" clId="Web-{C7E1CDEC-3F01-D926-4461-F75F66228463}" dt="2026-04-11T01:55:44.693" v="38"/>
        <pc:sldMkLst>
          <pc:docMk/>
          <pc:sldMk cId="0" sldId="257"/>
        </pc:sldMkLst>
      </pc:sldChg>
      <pc:sldChg chg="modTransition">
        <pc:chgData name="Kamila Karina" userId="88786616cf72eebd" providerId="Windows Live" clId="Web-{C7E1CDEC-3F01-D926-4461-F75F66228463}" dt="2026-04-11T01:55:44.693" v="38"/>
        <pc:sldMkLst>
          <pc:docMk/>
          <pc:sldMk cId="0" sldId="258"/>
        </pc:sldMkLst>
      </pc:sldChg>
      <pc:sldChg chg="modTransition">
        <pc:chgData name="Kamila Karina" userId="88786616cf72eebd" providerId="Windows Live" clId="Web-{C7E1CDEC-3F01-D926-4461-F75F66228463}" dt="2026-04-11T01:55:44.693" v="38"/>
        <pc:sldMkLst>
          <pc:docMk/>
          <pc:sldMk cId="0" sldId="259"/>
        </pc:sldMkLst>
      </pc:sldChg>
      <pc:sldChg chg="modTransition">
        <pc:chgData name="Kamila Karina" userId="88786616cf72eebd" providerId="Windows Live" clId="Web-{C7E1CDEC-3F01-D926-4461-F75F66228463}" dt="2026-04-11T01:55:44.693" v="38"/>
        <pc:sldMkLst>
          <pc:docMk/>
          <pc:sldMk cId="0" sldId="260"/>
        </pc:sldMkLst>
      </pc:sldChg>
      <pc:sldChg chg="modTransition">
        <pc:chgData name="Kamila Karina" userId="88786616cf72eebd" providerId="Windows Live" clId="Web-{C7E1CDEC-3F01-D926-4461-F75F66228463}" dt="2026-04-11T01:55:44.693" v="38"/>
        <pc:sldMkLst>
          <pc:docMk/>
          <pc:sldMk cId="0" sldId="261"/>
        </pc:sldMkLst>
      </pc:sldChg>
      <pc:sldMasterChg chg="modTransition modSldLayout">
        <pc:chgData name="Kamila Karina" userId="88786616cf72eebd" providerId="Windows Live" clId="Web-{C7E1CDEC-3F01-D926-4461-F75F66228463}" dt="2026-04-11T01:55:44.693" v="38"/>
        <pc:sldMasterMkLst>
          <pc:docMk/>
          <pc:sldMasterMk cId="0" sldId="2147483648"/>
        </pc:sldMasterMkLst>
        <pc:sldLayoutChg chg="modTransition">
          <pc:chgData name="Kamila Karina" userId="88786616cf72eebd" providerId="Windows Live" clId="Web-{C7E1CDEC-3F01-D926-4461-F75F66228463}" dt="2026-04-11T01:55:44.693" v="38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709C13-EF61-49D5-911B-3908CDC859C5}" type="datetimeFigureOut">
              <a:t>4/10/2026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696BF7-81F2-41F8-855B-E70FDEF4EED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281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3200400"/>
            <a:ext cx="2011680" cy="2011680"/>
          </a:xfrm>
          <a:prstGeom prst="ellipse">
            <a:avLst/>
          </a:prstGeom>
          <a:solidFill>
            <a:srgbClr val="E040FB">
              <a:alpha val="25000"/>
            </a:srgbClr>
          </a:solidFill>
          <a:ln w="12700">
            <a:solidFill>
              <a:srgbClr val="E040FB">
                <a:alpha val="25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188720"/>
            <a:ext cx="1645920" cy="1645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502920"/>
            <a:ext cx="29260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5029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DIO  ·  Bia do Futuro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11480" y="10515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Kami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411480" y="201168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educadora financeira virtual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11480" y="2743200"/>
            <a:ext cx="4114800" cy="36576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2926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89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de metas com IA Generativa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11480" y="4480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 err="1">
                <a:solidFill>
                  <a:srgbClr val="A89FCC"/>
                </a:solidFill>
              </a:rPr>
              <a:t>kamiikg</a:t>
            </a:r>
            <a:r>
              <a:rPr lang="en-US" sz="1200" dirty="0">
                <a:solidFill>
                  <a:srgbClr val="A89FCC"/>
                </a:solidFill>
              </a:rPr>
              <a:t>  ·  2026</a:t>
            </a:r>
            <a:endParaRPr lang="en-US" sz="1200" dirty="0">
              <a:solidFill>
                <a:srgbClr val="000000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274320"/>
            <a:ext cx="1828800" cy="320040"/>
          </a:xfrm>
          <a:prstGeom prst="rect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274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6D4"/>
                </a:solidFill>
              </a:rPr>
              <a:t>01 · O PROBLEMA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4048" y="7132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Brasileiros e a casa própria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84048" y="1554480"/>
            <a:ext cx="3931920" cy="2377440"/>
          </a:xfrm>
          <a:prstGeom prst="rect">
            <a:avLst/>
          </a:prstGeom>
          <a:solidFill>
            <a:srgbClr val="2E1D6B"/>
          </a:solidFill>
          <a:ln w="25400">
            <a:solidFill>
              <a:srgbClr val="E040FB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91640"/>
            <a:ext cx="914400" cy="914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4048" y="26060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E040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93%</a:t>
            </a:r>
            <a:endParaRPr lang="en-US" sz="6400" dirty="0"/>
          </a:p>
        </p:txBody>
      </p:sp>
      <p:sp>
        <p:nvSpPr>
          <p:cNvPr id="9" name="Text 6"/>
          <p:cNvSpPr/>
          <p:nvPr/>
        </p:nvSpPr>
        <p:spPr>
          <a:xfrm>
            <a:off x="384048" y="3429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0FF"/>
                </a:solidFill>
              </a:rPr>
              <a:t>sonham com a casa própria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554480"/>
            <a:ext cx="3931920" cy="2377440"/>
          </a:xfrm>
          <a:prstGeom prst="rect">
            <a:avLst/>
          </a:prstGeom>
          <a:solidFill>
            <a:srgbClr val="2E1D6B"/>
          </a:solidFill>
          <a:ln w="25400">
            <a:solidFill>
              <a:srgbClr val="06B6D4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1691640"/>
            <a:ext cx="914400" cy="914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6060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5%</a:t>
            </a:r>
            <a:endParaRPr lang="en-US" sz="6400" dirty="0"/>
          </a:p>
        </p:txBody>
      </p:sp>
      <p:sp>
        <p:nvSpPr>
          <p:cNvPr id="13" name="Text 9"/>
          <p:cNvSpPr/>
          <p:nvPr/>
        </p:nvSpPr>
        <p:spPr>
          <a:xfrm>
            <a:off x="4663440" y="3429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0FF"/>
                </a:solidFill>
              </a:rPr>
              <a:t>conseguem alcançar o objetivo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84048" y="41605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89FCC"/>
                </a:solidFill>
              </a:rPr>
              <a:t>Muita gente quer conquistar seus sonhos, mas não sabe como chegar lá.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274320"/>
            <a:ext cx="1828800" cy="320040"/>
          </a:xfrm>
          <a:prstGeom prst="rect">
            <a:avLst/>
          </a:prstGeom>
          <a:solidFill>
            <a:srgbClr val="E040FB">
              <a:alpha val="20000"/>
            </a:srgbClr>
          </a:solidFill>
          <a:ln w="12700">
            <a:solidFill>
              <a:srgbClr val="E040FB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274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40FB"/>
                </a:solidFill>
              </a:rPr>
              <a:t>02 · A SOLUÇÃO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4048" y="7132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Conheça a Kami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84048" y="13716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89FCC"/>
                </a:solidFill>
              </a:rPr>
              <a:t>Educadora financeira virtual personalizada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048" y="1920240"/>
            <a:ext cx="2697480" cy="2651760"/>
          </a:xfrm>
          <a:prstGeom prst="rect">
            <a:avLst/>
          </a:prstGeom>
          <a:solidFill>
            <a:srgbClr val="2E1D6B"/>
          </a:solidFill>
          <a:ln w="12700">
            <a:solidFill>
              <a:srgbClr val="261752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07008" y="2057400"/>
            <a:ext cx="1005840" cy="1005840"/>
          </a:xfrm>
          <a:prstGeom prst="ellipse">
            <a:avLst/>
          </a:prstGeom>
          <a:solidFill>
            <a:srgbClr val="1A1040"/>
          </a:solidFill>
          <a:ln w="25400">
            <a:solidFill>
              <a:srgbClr val="E040FB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456" y="2212848"/>
            <a:ext cx="685800" cy="685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75488" y="31546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Dados Reais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75488" y="356616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9FCC"/>
                </a:solidFill>
              </a:rPr>
              <a:t>Usa seus próprios dados financeiros para dar exemplos práticos e personalizados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310128" y="1920240"/>
            <a:ext cx="2697480" cy="2651760"/>
          </a:xfrm>
          <a:prstGeom prst="rect">
            <a:avLst/>
          </a:prstGeom>
          <a:solidFill>
            <a:srgbClr val="2E1D6B"/>
          </a:solidFill>
          <a:ln w="12700">
            <a:solidFill>
              <a:srgbClr val="261752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133088" y="2057400"/>
            <a:ext cx="1005840" cy="1005840"/>
          </a:xfrm>
          <a:prstGeom prst="ellipse">
            <a:avLst/>
          </a:prstGeom>
          <a:solidFill>
            <a:srgbClr val="1A1040"/>
          </a:solidFill>
          <a:ln w="25400">
            <a:solidFill>
              <a:srgbClr val="06B6D4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2212848"/>
            <a:ext cx="685800" cy="6858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01568" y="31546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Saldo Claro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401568" y="356616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9FCC"/>
                </a:solidFill>
              </a:rPr>
              <a:t>Calcula saldo mensal e diário disponível com clareza para o usuário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236208" y="1920240"/>
            <a:ext cx="2697480" cy="2651760"/>
          </a:xfrm>
          <a:prstGeom prst="rect">
            <a:avLst/>
          </a:prstGeom>
          <a:solidFill>
            <a:srgbClr val="2E1D6B"/>
          </a:solidFill>
          <a:ln w="12700">
            <a:solidFill>
              <a:srgbClr val="261752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059168" y="2057400"/>
            <a:ext cx="1005840" cy="1005840"/>
          </a:xfrm>
          <a:prstGeom prst="ellipse">
            <a:avLst/>
          </a:prstGeom>
          <a:solidFill>
            <a:srgbClr val="1A1040"/>
          </a:solidFill>
          <a:ln w="25400">
            <a:solidFill>
              <a:srgbClr val="FACC15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4616" y="2212848"/>
            <a:ext cx="685800" cy="6858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27648" y="31546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Metas de Vida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327648" y="356616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89FCC"/>
                </a:solidFill>
              </a:rPr>
              <a:t>Recomendações sobre como alcançar objetivos de curto, médio e longo prazo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74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ACC15"/>
                </a:solidFill>
              </a:rPr>
              <a:t>03 · DEMONSTRAÇÃO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84048" y="7132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Kami em ação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6858000" cy="658368"/>
          </a:xfrm>
          <a:prstGeom prst="rect">
            <a:avLst/>
          </a:prstGeom>
          <a:solidFill>
            <a:srgbClr val="2E1D6B"/>
          </a:solidFill>
          <a:ln w="12700">
            <a:solidFill>
              <a:srgbClr val="7C3AE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73152" cy="658368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00200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💬  Qual meu saldo restante?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6858000" cy="658368"/>
          </a:xfrm>
          <a:prstGeom prst="rect">
            <a:avLst/>
          </a:prstGeom>
          <a:solidFill>
            <a:srgbClr val="2E1D6B"/>
          </a:solidFill>
          <a:ln w="12700">
            <a:solidFill>
              <a:srgbClr val="7C3AE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514600"/>
            <a:ext cx="73152" cy="658368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14600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💬  Como poderia avançar na reserva de emergência?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6858000" cy="658368"/>
          </a:xfrm>
          <a:prstGeom prst="rect">
            <a:avLst/>
          </a:prstGeom>
          <a:solidFill>
            <a:srgbClr val="2E1D6B"/>
          </a:solidFill>
          <a:ln w="12700">
            <a:solidFill>
              <a:srgbClr val="7C3AE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429000"/>
            <a:ext cx="73152" cy="658368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429000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💬  O que é Tesouro Selic e qual a diferença para o CDB?</a:t>
            </a:r>
            <a:endParaRPr lang="en-US" sz="15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371600"/>
            <a:ext cx="1280160" cy="12801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84048" y="45262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89FCC"/>
                </a:solidFill>
              </a:rPr>
              <a:t>▶  Veja a gravação da demonstração ao vivo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</a:rPr>
              <a:t>04 · DIFERENCIAL &amp; IMPACTO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84048" y="71323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 que a Kami é diferente?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84048" y="1554480"/>
            <a:ext cx="4069080" cy="1828800"/>
          </a:xfrm>
          <a:prstGeom prst="rect">
            <a:avLst/>
          </a:prstGeom>
          <a:solidFill>
            <a:srgbClr val="2E1D6B"/>
          </a:solidFill>
          <a:ln w="19050">
            <a:solidFill>
              <a:srgbClr val="E040FB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78308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17830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Personalização Real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89888" y="21945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9FCC"/>
                </a:solidFill>
              </a:rPr>
              <a:t>Usa seus dados como exemplo — não respostas genéricas de chatbot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73168" y="1554480"/>
            <a:ext cx="4069080" cy="1828800"/>
          </a:xfrm>
          <a:prstGeom prst="rect">
            <a:avLst/>
          </a:prstGeom>
          <a:solidFill>
            <a:srgbClr val="2E1D6B"/>
          </a:solidFill>
          <a:ln w="19050">
            <a:solidFill>
              <a:srgbClr val="06B6D4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1783080"/>
            <a:ext cx="685800" cy="685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79008" y="17830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Roda na Nuvem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779008" y="21945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9FCC"/>
                </a:solidFill>
              </a:rPr>
              <a:t>Zero espaço de armazenamento local. Escolha a LLM que quiser.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84048" y="3566160"/>
            <a:ext cx="8321040" cy="1051560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721608"/>
            <a:ext cx="594360" cy="5943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3566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CC15"/>
                </a:solidFill>
              </a:rPr>
              <a:t>Impacto: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280160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0FF"/>
                </a:solidFill>
              </a:rPr>
              <a:t>Clareza financeira que resulta em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280160" y="42062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concretização de sonhos. 🌟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E040FB">
              <a:alpha val="22000"/>
            </a:srgbClr>
          </a:solidFill>
          <a:ln w="12700">
            <a:solidFill>
              <a:srgbClr val="E040FB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457200"/>
            <a:ext cx="128016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Kami</a:t>
            </a:r>
            <a:endParaRPr lang="en-US" sz="5800" dirty="0"/>
          </a:p>
        </p:txBody>
      </p:sp>
      <p:sp>
        <p:nvSpPr>
          <p:cNvPr id="7" name="Text 4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E8E0FF"/>
                </a:solidFill>
              </a:rPr>
              <a:t>Transformando dados em clareza.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40FB"/>
                </a:solidFill>
              </a:rPr>
              <a:t>Clareza em sonhos realizados.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200400" y="3794760"/>
            <a:ext cx="27432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4023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9FCC"/>
                </a:solidFill>
              </a:rPr>
              <a:t>github.com/kamiikg/dio-lab-bia-do-futuro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Kami — Agente Financeira</dc:title>
  <dc:subject>PptxGenJS Presentation</dc:subject>
  <dc:creator>kamiikg</dc:creator>
  <cp:lastModifiedBy>kamiikg</cp:lastModifiedBy>
  <cp:revision>38</cp:revision>
  <dcterms:created xsi:type="dcterms:W3CDTF">2026-04-11T01:43:35Z</dcterms:created>
  <dcterms:modified xsi:type="dcterms:W3CDTF">2026-04-11T01:55:50Z</dcterms:modified>
</cp:coreProperties>
</file>